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330" r:id="rId4"/>
    <p:sldId id="303" r:id="rId5"/>
    <p:sldId id="277" r:id="rId6"/>
    <p:sldId id="290" r:id="rId7"/>
    <p:sldId id="300" r:id="rId8"/>
    <p:sldId id="270" r:id="rId9"/>
    <p:sldId id="327" r:id="rId10"/>
    <p:sldId id="272" r:id="rId11"/>
    <p:sldId id="328" r:id="rId12"/>
    <p:sldId id="301" r:id="rId13"/>
    <p:sldId id="329" r:id="rId14"/>
    <p:sldId id="302" r:id="rId15"/>
    <p:sldId id="326" r:id="rId16"/>
    <p:sldId id="304" r:id="rId17"/>
    <p:sldId id="284" r:id="rId18"/>
    <p:sldId id="324" r:id="rId19"/>
    <p:sldId id="325" r:id="rId20"/>
    <p:sldId id="28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438007-65B5-499F-BE19-2C9B7C6D2289}" v="34" dt="2026-08-22T13:22:00.4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ula reddy prasad" userId="6c627b2b800d699e" providerId="LiveId" clId="{93796F71-712A-40B6-BF5C-1F9D3D39DD1F}"/>
    <pc:docChg chg="undo custSel addSld delSld modSld sldOrd">
      <pc:chgData name="akula reddy prasad" userId="6c627b2b800d699e" providerId="LiveId" clId="{93796F71-712A-40B6-BF5C-1F9D3D39DD1F}" dt="2026-08-22T13:22:43.941" v="207" actId="1076"/>
      <pc:docMkLst>
        <pc:docMk/>
      </pc:docMkLst>
      <pc:sldChg chg="modSp mod">
        <pc:chgData name="akula reddy prasad" userId="6c627b2b800d699e" providerId="LiveId" clId="{93796F71-712A-40B6-BF5C-1F9D3D39DD1F}" dt="2026-08-21T04:18:18.828" v="188" actId="123"/>
        <pc:sldMkLst>
          <pc:docMk/>
          <pc:sldMk cId="251392508" sldId="262"/>
        </pc:sldMkLst>
        <pc:spChg chg="mod">
          <ac:chgData name="akula reddy prasad" userId="6c627b2b800d699e" providerId="LiveId" clId="{93796F71-712A-40B6-BF5C-1F9D3D39DD1F}" dt="2026-08-21T04:17:49.911" v="179" actId="2711"/>
          <ac:spMkLst>
            <pc:docMk/>
            <pc:sldMk cId="251392508" sldId="262"/>
            <ac:spMk id="2" creationId="{8A485504-E60E-C1E8-A871-A3E75BC15D4A}"/>
          </ac:spMkLst>
        </pc:spChg>
        <pc:spChg chg="mod">
          <ac:chgData name="akula reddy prasad" userId="6c627b2b800d699e" providerId="LiveId" clId="{93796F71-712A-40B6-BF5C-1F9D3D39DD1F}" dt="2026-08-21T04:18:18.828" v="188" actId="123"/>
          <ac:spMkLst>
            <pc:docMk/>
            <pc:sldMk cId="251392508" sldId="262"/>
            <ac:spMk id="3" creationId="{53B4AD20-4607-24EC-D105-7AFAB96AF993}"/>
          </ac:spMkLst>
        </pc:spChg>
      </pc:sldChg>
      <pc:sldChg chg="modSp mod">
        <pc:chgData name="akula reddy prasad" userId="6c627b2b800d699e" providerId="LiveId" clId="{93796F71-712A-40B6-BF5C-1F9D3D39DD1F}" dt="2026-08-21T04:20:06.691" v="192" actId="1076"/>
        <pc:sldMkLst>
          <pc:docMk/>
          <pc:sldMk cId="3950612763" sldId="277"/>
        </pc:sldMkLst>
        <pc:spChg chg="mod">
          <ac:chgData name="akula reddy prasad" userId="6c627b2b800d699e" providerId="LiveId" clId="{93796F71-712A-40B6-BF5C-1F9D3D39DD1F}" dt="2026-08-21T04:20:06.691" v="192" actId="1076"/>
          <ac:spMkLst>
            <pc:docMk/>
            <pc:sldMk cId="3950612763" sldId="277"/>
            <ac:spMk id="2" creationId="{F7399FCA-99A8-EFEC-DF7F-83C222C7B95C}"/>
          </ac:spMkLst>
        </pc:spChg>
      </pc:sldChg>
      <pc:sldChg chg="addSp delSp modSp mod">
        <pc:chgData name="akula reddy prasad" userId="6c627b2b800d699e" providerId="LiveId" clId="{93796F71-712A-40B6-BF5C-1F9D3D39DD1F}" dt="2026-08-21T04:19:17.358" v="190" actId="22"/>
        <pc:sldMkLst>
          <pc:docMk/>
          <pc:sldMk cId="3462569907" sldId="281"/>
        </pc:sldMkLst>
        <pc:spChg chg="add mod">
          <ac:chgData name="akula reddy prasad" userId="6c627b2b800d699e" providerId="LiveId" clId="{93796F71-712A-40B6-BF5C-1F9D3D39DD1F}" dt="2026-08-21T04:19:16.160" v="189" actId="478"/>
          <ac:spMkLst>
            <pc:docMk/>
            <pc:sldMk cId="3462569907" sldId="281"/>
            <ac:spMk id="3" creationId="{AABA90CF-1B38-5DB2-CE63-5B23B0BEB4FE}"/>
          </ac:spMkLst>
        </pc:spChg>
        <pc:picChg chg="del">
          <ac:chgData name="akula reddy prasad" userId="6c627b2b800d699e" providerId="LiveId" clId="{93796F71-712A-40B6-BF5C-1F9D3D39DD1F}" dt="2026-08-21T04:19:16.160" v="189" actId="478"/>
          <ac:picMkLst>
            <pc:docMk/>
            <pc:sldMk cId="3462569907" sldId="281"/>
            <ac:picMk id="5" creationId="{E8E4082B-790C-8D52-5F67-98B5146A4947}"/>
          </ac:picMkLst>
        </pc:picChg>
        <pc:picChg chg="add">
          <ac:chgData name="akula reddy prasad" userId="6c627b2b800d699e" providerId="LiveId" clId="{93796F71-712A-40B6-BF5C-1F9D3D39DD1F}" dt="2026-08-21T04:19:17.358" v="190" actId="22"/>
          <ac:picMkLst>
            <pc:docMk/>
            <pc:sldMk cId="3462569907" sldId="281"/>
            <ac:picMk id="6" creationId="{E21DC90C-EF37-7845-E1CB-4C69FB30A614}"/>
          </ac:picMkLst>
        </pc:picChg>
      </pc:sldChg>
      <pc:sldChg chg="modSp mod">
        <pc:chgData name="akula reddy prasad" userId="6c627b2b800d699e" providerId="LiveId" clId="{93796F71-712A-40B6-BF5C-1F9D3D39DD1F}" dt="2026-08-22T13:22:15.405" v="204" actId="114"/>
        <pc:sldMkLst>
          <pc:docMk/>
          <pc:sldMk cId="1354709321" sldId="290"/>
        </pc:sldMkLst>
        <pc:graphicFrameChg chg="mod modGraphic">
          <ac:chgData name="akula reddy prasad" userId="6c627b2b800d699e" providerId="LiveId" clId="{93796F71-712A-40B6-BF5C-1F9D3D39DD1F}" dt="2026-08-22T13:22:15.405" v="204" actId="114"/>
          <ac:graphicFrameMkLst>
            <pc:docMk/>
            <pc:sldMk cId="1354709321" sldId="290"/>
            <ac:graphicFrameMk id="8" creationId="{188B0541-7314-18C7-1C34-C2CDCCE2107F}"/>
          </ac:graphicFrameMkLst>
        </pc:graphicFrameChg>
      </pc:sldChg>
      <pc:sldChg chg="addSp delSp modSp mod">
        <pc:chgData name="akula reddy prasad" userId="6c627b2b800d699e" providerId="LiveId" clId="{93796F71-712A-40B6-BF5C-1F9D3D39DD1F}" dt="2026-08-22T13:22:43.941" v="207" actId="1076"/>
        <pc:sldMkLst>
          <pc:docMk/>
          <pc:sldMk cId="3528568155" sldId="300"/>
        </pc:sldMkLst>
        <pc:picChg chg="add mod">
          <ac:chgData name="akula reddy prasad" userId="6c627b2b800d699e" providerId="LiveId" clId="{93796F71-712A-40B6-BF5C-1F9D3D39DD1F}" dt="2026-08-22T13:22:43.941" v="207" actId="1076"/>
          <ac:picMkLst>
            <pc:docMk/>
            <pc:sldMk cId="3528568155" sldId="300"/>
            <ac:picMk id="3" creationId="{110634A9-DC2B-D96E-8B29-31D967C4F7FA}"/>
          </ac:picMkLst>
        </pc:picChg>
        <pc:picChg chg="del">
          <ac:chgData name="akula reddy prasad" userId="6c627b2b800d699e" providerId="LiveId" clId="{93796F71-712A-40B6-BF5C-1F9D3D39DD1F}" dt="2026-08-22T13:19:26.698" v="197" actId="478"/>
          <ac:picMkLst>
            <pc:docMk/>
            <pc:sldMk cId="3528568155" sldId="300"/>
            <ac:picMk id="19" creationId="{413D16A8-379D-D720-A9A7-BCABB1E49770}"/>
          </ac:picMkLst>
        </pc:picChg>
      </pc:sldChg>
      <pc:sldChg chg="addSp delSp modSp add mod ord">
        <pc:chgData name="akula reddy prasad" userId="6c627b2b800d699e" providerId="LiveId" clId="{93796F71-712A-40B6-BF5C-1F9D3D39DD1F}" dt="2026-08-21T04:20:00.526" v="191" actId="1076"/>
        <pc:sldMkLst>
          <pc:docMk/>
          <pc:sldMk cId="4255053929" sldId="303"/>
        </pc:sldMkLst>
        <pc:spChg chg="add del mod">
          <ac:chgData name="akula reddy prasad" userId="6c627b2b800d699e" providerId="LiveId" clId="{93796F71-712A-40B6-BF5C-1F9D3D39DD1F}" dt="2026-08-21T04:20:00.526" v="191" actId="1076"/>
          <ac:spMkLst>
            <pc:docMk/>
            <pc:sldMk cId="4255053929" sldId="303"/>
            <ac:spMk id="2" creationId="{59F8FD92-21EB-6736-6C4C-1F1C6228A8DE}"/>
          </ac:spMkLst>
        </pc:spChg>
        <pc:spChg chg="mod">
          <ac:chgData name="akula reddy prasad" userId="6c627b2b800d699e" providerId="LiveId" clId="{93796F71-712A-40B6-BF5C-1F9D3D39DD1F}" dt="2026-08-17T11:43:25.025" v="104" actId="20577"/>
          <ac:spMkLst>
            <pc:docMk/>
            <pc:sldMk cId="4255053929" sldId="303"/>
            <ac:spMk id="5" creationId="{5ABFEB7C-626C-53FE-9E50-262191F5B3D9}"/>
          </ac:spMkLst>
        </pc:spChg>
      </pc:sldChg>
      <pc:sldChg chg="modSp add mod">
        <pc:chgData name="akula reddy prasad" userId="6c627b2b800d699e" providerId="LiveId" clId="{93796F71-712A-40B6-BF5C-1F9D3D39DD1F}" dt="2026-08-21T04:20:43.583" v="193" actId="20577"/>
        <pc:sldMkLst>
          <pc:docMk/>
          <pc:sldMk cId="2379627240" sldId="304"/>
        </pc:sldMkLst>
        <pc:spChg chg="mod">
          <ac:chgData name="akula reddy prasad" userId="6c627b2b800d699e" providerId="LiveId" clId="{93796F71-712A-40B6-BF5C-1F9D3D39DD1F}" dt="2026-08-21T04:20:43.583" v="193" actId="20577"/>
          <ac:spMkLst>
            <pc:docMk/>
            <pc:sldMk cId="2379627240" sldId="304"/>
            <ac:spMk id="2" creationId="{A30125E8-E973-A4E0-41D2-DA3F9D5281F8}"/>
          </ac:spMkLst>
        </pc:spChg>
        <pc:spChg chg="mod">
          <ac:chgData name="akula reddy prasad" userId="6c627b2b800d699e" providerId="LiveId" clId="{93796F71-712A-40B6-BF5C-1F9D3D39DD1F}" dt="2026-08-17T11:40:14.893" v="79" actId="1076"/>
          <ac:spMkLst>
            <pc:docMk/>
            <pc:sldMk cId="2379627240" sldId="304"/>
            <ac:spMk id="8" creationId="{DCB56CDC-A1C1-3D97-2013-05E361050670}"/>
          </ac:spMkLst>
        </pc:spChg>
      </pc:sldChg>
      <pc:sldChg chg="modSp add mod ord">
        <pc:chgData name="akula reddy prasad" userId="6c627b2b800d699e" providerId="LiveId" clId="{93796F71-712A-40B6-BF5C-1F9D3D39DD1F}" dt="2026-08-17T11:41:28.245" v="93" actId="12"/>
        <pc:sldMkLst>
          <pc:docMk/>
          <pc:sldMk cId="689091762" sldId="324"/>
        </pc:sldMkLst>
        <pc:spChg chg="mod">
          <ac:chgData name="akula reddy prasad" userId="6c627b2b800d699e" providerId="LiveId" clId="{93796F71-712A-40B6-BF5C-1F9D3D39DD1F}" dt="2026-08-17T11:41:28.245" v="93" actId="12"/>
          <ac:spMkLst>
            <pc:docMk/>
            <pc:sldMk cId="689091762" sldId="324"/>
            <ac:spMk id="8" creationId="{08C05841-9286-4A2D-A720-98A103C5AD96}"/>
          </ac:spMkLst>
        </pc:spChg>
      </pc:sldChg>
      <pc:sldChg chg="modSp add mod">
        <pc:chgData name="akula reddy prasad" userId="6c627b2b800d699e" providerId="LiveId" clId="{93796F71-712A-40B6-BF5C-1F9D3D39DD1F}" dt="2026-08-17T11:50:12.489" v="171" actId="113"/>
        <pc:sldMkLst>
          <pc:docMk/>
          <pc:sldMk cId="2451427651" sldId="325"/>
        </pc:sldMkLst>
        <pc:spChg chg="mod">
          <ac:chgData name="akula reddy prasad" userId="6c627b2b800d699e" providerId="LiveId" clId="{93796F71-712A-40B6-BF5C-1F9D3D39DD1F}" dt="2026-08-17T11:50:12.489" v="171" actId="113"/>
          <ac:spMkLst>
            <pc:docMk/>
            <pc:sldMk cId="2451427651" sldId="325"/>
            <ac:spMk id="8" creationId="{8AE6F2DA-9F7A-908D-F240-91ABB47D9CA1}"/>
          </ac:spMkLst>
        </pc:spChg>
      </pc:sldChg>
      <pc:sldChg chg="addSp delSp modSp add mod">
        <pc:chgData name="akula reddy prasad" userId="6c627b2b800d699e" providerId="LiveId" clId="{93796F71-712A-40B6-BF5C-1F9D3D39DD1F}" dt="2026-08-17T11:50:00.707" v="169" actId="14100"/>
        <pc:sldMkLst>
          <pc:docMk/>
          <pc:sldMk cId="4088986403" sldId="326"/>
        </pc:sldMkLst>
        <pc:spChg chg="mod">
          <ac:chgData name="akula reddy prasad" userId="6c627b2b800d699e" providerId="LiveId" clId="{93796F71-712A-40B6-BF5C-1F9D3D39DD1F}" dt="2026-08-17T11:44:03.454" v="123" actId="20577"/>
          <ac:spMkLst>
            <pc:docMk/>
            <pc:sldMk cId="4088986403" sldId="326"/>
            <ac:spMk id="2" creationId="{17F694F6-920B-96AC-2ADD-7FDE67D4B341}"/>
          </ac:spMkLst>
        </pc:spChg>
        <pc:picChg chg="add mod">
          <ac:chgData name="akula reddy prasad" userId="6c627b2b800d699e" providerId="LiveId" clId="{93796F71-712A-40B6-BF5C-1F9D3D39DD1F}" dt="2026-08-17T11:50:00.707" v="169" actId="14100"/>
          <ac:picMkLst>
            <pc:docMk/>
            <pc:sldMk cId="4088986403" sldId="326"/>
            <ac:picMk id="7" creationId="{2843B620-6DC9-55DF-F490-987B8AE63833}"/>
          </ac:picMkLst>
        </pc:picChg>
      </pc:sldChg>
      <pc:sldChg chg="addSp delSp modSp add mod">
        <pc:chgData name="akula reddy prasad" userId="6c627b2b800d699e" providerId="LiveId" clId="{93796F71-712A-40B6-BF5C-1F9D3D39DD1F}" dt="2026-08-17T11:48:54.328" v="155" actId="1076"/>
        <pc:sldMkLst>
          <pc:docMk/>
          <pc:sldMk cId="146382771" sldId="327"/>
        </pc:sldMkLst>
        <pc:picChg chg="add mod">
          <ac:chgData name="akula reddy prasad" userId="6c627b2b800d699e" providerId="LiveId" clId="{93796F71-712A-40B6-BF5C-1F9D3D39DD1F}" dt="2026-08-17T11:48:54.328" v="155" actId="1076"/>
          <ac:picMkLst>
            <pc:docMk/>
            <pc:sldMk cId="146382771" sldId="327"/>
            <ac:picMk id="7" creationId="{9484A157-9677-CC03-3AC0-246D45FAB687}"/>
          </ac:picMkLst>
        </pc:picChg>
      </pc:sldChg>
      <pc:sldChg chg="addSp modSp add mod">
        <pc:chgData name="akula reddy prasad" userId="6c627b2b800d699e" providerId="LiveId" clId="{93796F71-712A-40B6-BF5C-1F9D3D39DD1F}" dt="2026-08-17T11:49:17.957" v="159" actId="14100"/>
        <pc:sldMkLst>
          <pc:docMk/>
          <pc:sldMk cId="2824340715" sldId="328"/>
        </pc:sldMkLst>
        <pc:picChg chg="add mod">
          <ac:chgData name="akula reddy prasad" userId="6c627b2b800d699e" providerId="LiveId" clId="{93796F71-712A-40B6-BF5C-1F9D3D39DD1F}" dt="2026-08-17T11:49:17.957" v="159" actId="14100"/>
          <ac:picMkLst>
            <pc:docMk/>
            <pc:sldMk cId="2824340715" sldId="328"/>
            <ac:picMk id="5" creationId="{8BABAD85-816B-CF67-714D-A141EE544632}"/>
          </ac:picMkLst>
        </pc:picChg>
      </pc:sldChg>
      <pc:sldChg chg="addSp modSp add mod">
        <pc:chgData name="akula reddy prasad" userId="6c627b2b800d699e" providerId="LiveId" clId="{93796F71-712A-40B6-BF5C-1F9D3D39DD1F}" dt="2026-08-17T11:49:40.708" v="165" actId="14100"/>
        <pc:sldMkLst>
          <pc:docMk/>
          <pc:sldMk cId="761253889" sldId="329"/>
        </pc:sldMkLst>
        <pc:picChg chg="add mod">
          <ac:chgData name="akula reddy prasad" userId="6c627b2b800d699e" providerId="LiveId" clId="{93796F71-712A-40B6-BF5C-1F9D3D39DD1F}" dt="2026-08-17T11:49:40.708" v="165" actId="14100"/>
          <ac:picMkLst>
            <pc:docMk/>
            <pc:sldMk cId="761253889" sldId="329"/>
            <ac:picMk id="5" creationId="{B3E9AF42-A1F6-6329-2534-424EC2CAFA9B}"/>
          </ac:picMkLst>
        </pc:picChg>
      </pc:sldChg>
      <pc:sldChg chg="add">
        <pc:chgData name="akula reddy prasad" userId="6c627b2b800d699e" providerId="LiveId" clId="{93796F71-712A-40B6-BF5C-1F9D3D39DD1F}" dt="2026-08-21T04:17:29" v="172" actId="2890"/>
        <pc:sldMkLst>
          <pc:docMk/>
          <pc:sldMk cId="3819969958" sldId="33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90901-FDDB-241D-EBCE-2B63B035FF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75E6AB-E15E-5EEA-2BDD-AFD476051D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824D1-D353-972D-294B-81DE7012D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2A3CC-6DDE-0066-54BD-626B6FDA7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769A0-0A03-9005-F8B9-D86B19234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773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8CA13-DFFA-F891-965E-ABCBB161B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FA5AA-D3B3-EBC2-DEED-608BA8AD9F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83E11B-EAB2-D54A-F0A2-58C30A50A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1540E7-B1A9-DDE8-E7A5-BAC62926A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682103-C9BB-8D83-CC7B-23DBC3D4E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00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F6942-9E2F-1664-A4CF-8127595EA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C112BE-065D-4895-3665-11CF84F76E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DB5ED-899C-8D68-9FEC-10101586B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513A1-7317-6C28-F6EA-8C2F221B0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B59DC2-0D46-AFF8-A903-3F90EE5AD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747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512BA-E38D-9F50-50F1-E13FE798D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832AE-7889-3CBA-28EF-53308CE7F1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FA1784-1731-A5BC-FA97-F3E89824E6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26CE1-8965-339A-4D81-6EDF101A1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F1A912-EC48-7D57-50F8-E36303D0C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B611F9-8290-3CEE-4482-64D302165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101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000CB-E835-6EC1-A3B1-FC142F899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E36CB8-91C4-9775-7E6A-2FA4DD6B31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1B974-B12B-9F17-F42C-67AFDA9CB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5639F6-5D37-B9D9-2B80-BBBFAA200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2BE823-E93F-C83B-FCE6-AEE02C9496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B7C4B4-EB9B-169B-D089-E4BFE7861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7EAAEF-DE7E-0248-B26A-94A633DD9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1AF5E3-9F5F-5F17-0CFB-45A353F38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800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78D21-5B82-7484-AA22-A9ED016E4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4D2861-D755-0290-D3D4-66AE6E6E3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1837DB-E0F9-9AC0-3D4B-E4C1963C9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55F380-DA2D-4382-851F-764783273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752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0D2DC7-6066-0377-E1F2-110FF66C3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60C570-4F83-11FC-2B55-CCBB74C52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2E2D94-2051-B568-464F-B8539308D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573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92EEC-4C47-0C9C-04CA-6019E8449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86D88-E3B5-3744-AB59-075F128A1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8F71B1-DBD3-4BFA-20D6-2FD59C1459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352C18-5EC5-C46E-F2B9-1E29AB98A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504744-1FE7-5099-478E-E59FC3C8B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E857E5-C4B7-E618-09E5-83FBCAC39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570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725E7-438A-E9AA-83B8-46526068F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0CA2AB-68B1-65C5-FA13-1361D6DA0D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92BF58-1464-F3AD-CB0B-5FE6530554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0F6EDE-8461-77AA-5DEC-B83BCA58A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8EEACE-568D-571A-BDD5-7019AA6E4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531510-CDC0-279B-87DA-9C7557274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18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98044-4A76-73F9-11B3-7E3F535E3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EDFD0E-1618-C934-1597-A6D65A0501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0B5FE-D3B7-2342-334E-B755AA039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219FD3-55A7-66D6-D3EF-8AAF4C9B3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AEFC9F-496C-224F-73A4-2E05C17E1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613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9D4E1E-B9CB-D5E8-DEB1-BA45F41088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5FE3E9-1166-F8F5-D8EA-45D04876F0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80086-9AEF-06CE-1425-28C7D97A8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CB8-FFF1-470A-AA9C-EDE358CC0F0D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D0D32-8917-09CA-F2C6-92B7B1B11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E4838-799A-BB65-E9A7-DB01E86E8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234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06FDC2-0088-9214-2297-021236567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E6AC6A-4F42-F180-A4AA-CBD7ADF74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C37E5-3953-89AE-213C-2466443F4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595CB8-FFF1-470A-AA9C-EDE358CC0F0D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3A6AC-1669-508A-BD43-9FA557B8B5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2C4D70-B3AC-C126-4E25-4B44F65190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A60D83-94DB-4175-B193-4A18C8288C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325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6ACDD-EC81-47F6-0503-E7D3C30E53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1596" y="633335"/>
            <a:ext cx="9144000" cy="1096547"/>
          </a:xfrm>
        </p:spPr>
        <p:txBody>
          <a:bodyPr>
            <a:normAutofit fontScale="90000"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SIMATS ENGINEERING</a:t>
            </a:r>
            <a:b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Saveetha Institute of Medical and Technical Sciences</a:t>
            </a:r>
            <a:b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Chennai-602105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49" name="Picture 2">
            <a:extLst>
              <a:ext uri="{FF2B5EF4-FFF2-40B4-BE49-F238E27FC236}">
                <a16:creationId xmlns:a16="http://schemas.microsoft.com/office/drawing/2014/main" id="{6EFA4D53-C4ED-09BB-8C9A-DB7072EC2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2522" y="658019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3">
            <a:extLst>
              <a:ext uri="{FF2B5EF4-FFF2-40B4-BE49-F238E27FC236}">
                <a16:creationId xmlns:a16="http://schemas.microsoft.com/office/drawing/2014/main" id="{E950B5C3-D9CA-D5EA-48E1-536F4E8B3E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248" y="655820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7921020-7D5A-91BA-8C69-AA4A4D0987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30311814-D603-17AE-559A-901EB88A9DB0}"/>
              </a:ext>
            </a:extLst>
          </p:cNvPr>
          <p:cNvSpPr txBox="1">
            <a:spLocks/>
          </p:cNvSpPr>
          <p:nvPr/>
        </p:nvSpPr>
        <p:spPr>
          <a:xfrm>
            <a:off x="6096000" y="4311806"/>
            <a:ext cx="5703812" cy="2100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algn="r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A.Reddy Prasad (192472045)</a:t>
            </a:r>
          </a:p>
          <a:p>
            <a:pPr algn="r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P.Poorna Chandra (192472287)</a:t>
            </a:r>
          </a:p>
          <a:p>
            <a:pPr algn="r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P.krishna Sashank (192525191)</a:t>
            </a:r>
          </a:p>
          <a:p>
            <a:pPr algn="r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N.Sudheer (192525087)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A56B84-5E4F-2657-541D-6B744C218E6A}"/>
              </a:ext>
            </a:extLst>
          </p:cNvPr>
          <p:cNvSpPr txBox="1"/>
          <p:nvPr/>
        </p:nvSpPr>
        <p:spPr>
          <a:xfrm>
            <a:off x="587477" y="4922082"/>
            <a:ext cx="43529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BOOMIJA M D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53BA2E-0E15-F5AD-97D1-B3353F30611B}"/>
              </a:ext>
            </a:extLst>
          </p:cNvPr>
          <p:cNvSpPr txBox="1"/>
          <p:nvPr/>
        </p:nvSpPr>
        <p:spPr>
          <a:xfrm>
            <a:off x="0" y="1428086"/>
            <a:ext cx="1199535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t">
              <a:buNone/>
            </a:pPr>
            <a:r>
              <a:rPr lang="en-US" sz="36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ctr"/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Big Data Analytics Platform for Intelligent Public Transportation Planning and Passenger Demand Forecasting</a:t>
            </a:r>
            <a:endParaRPr lang="en-US" sz="3600" b="1" i="0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1762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F36AB-6604-3B8A-EEE8-51FF79E51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85504-E60E-C1E8-A871-A3E75BC15D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1626"/>
            <a:ext cx="9144000" cy="1096547"/>
          </a:xfrm>
        </p:spPr>
        <p:txBody>
          <a:bodyPr>
            <a:normAutofit/>
          </a:bodyPr>
          <a:lstStyle/>
          <a:p>
            <a:r>
              <a:rPr lang="en-IN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 </a:t>
            </a:r>
            <a:endParaRPr lang="en-US" sz="4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49" name="Picture 2">
            <a:extLst>
              <a:ext uri="{FF2B5EF4-FFF2-40B4-BE49-F238E27FC236}">
                <a16:creationId xmlns:a16="http://schemas.microsoft.com/office/drawing/2014/main" id="{E5590C45-E6FB-FE93-1019-7AC325AD33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3418" y="22485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3">
            <a:extLst>
              <a:ext uri="{FF2B5EF4-FFF2-40B4-BE49-F238E27FC236}">
                <a16:creationId xmlns:a16="http://schemas.microsoft.com/office/drawing/2014/main" id="{4341902F-694B-215E-1E11-D748E376F8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324" y="22485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4EDA616-B6F8-590B-1862-10597DD78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3B4AD20-4607-24EC-D105-7AFAB96AF99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255234" y="1722906"/>
            <a:ext cx="10081360" cy="4185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transportation generates large amounts of data from GPS, ticketing systems, passenger records, and vehicles.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and analyzing this large data is difficult using traditional methods.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uses Big Data Analytics to process transportation data efficiently.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is used to predict future passenger demand.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identifies peak hours, travel patterns, and high-demand areas.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 Analytics helps analyze route performance and improve route planning.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Module displays demand, routes, and transportation information using charts and graphs.</a:t>
            </a:r>
          </a:p>
        </p:txBody>
      </p:sp>
    </p:spTree>
    <p:extLst>
      <p:ext uri="{BB962C8B-B14F-4D97-AF65-F5344CB8AC3E}">
        <p14:creationId xmlns:p14="http://schemas.microsoft.com/office/powerpoint/2010/main" val="251392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0BFA8-6F55-94FB-08B7-38866EC92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D4D02-9463-6257-9F6D-67088A5AB7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1626"/>
            <a:ext cx="9144000" cy="1096547"/>
          </a:xfrm>
        </p:spPr>
        <p:txBody>
          <a:bodyPr>
            <a:normAutofit/>
          </a:bodyPr>
          <a:lstStyle/>
          <a:p>
            <a:r>
              <a:rPr lang="en-IN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4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49" name="Picture 2">
            <a:extLst>
              <a:ext uri="{FF2B5EF4-FFF2-40B4-BE49-F238E27FC236}">
                <a16:creationId xmlns:a16="http://schemas.microsoft.com/office/drawing/2014/main" id="{4C1BBFA6-7290-7CDE-30F3-686CD71668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3418" y="22485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3">
            <a:extLst>
              <a:ext uri="{FF2B5EF4-FFF2-40B4-BE49-F238E27FC236}">
                <a16:creationId xmlns:a16="http://schemas.microsoft.com/office/drawing/2014/main" id="{46470202-7E2F-ADBF-FF1C-34A7CAED66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324" y="22485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9BE3C91-7216-2422-B28D-CA38097252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4A399F5-8E91-CFB1-2F91-0B478722DBF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255234" y="1620827"/>
            <a:ext cx="10081360" cy="43899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transportation is one of the most important services for daily travel.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Thousands of passengers use buses, trains, and other public transport every day.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number of passengers changes during peak hours, weekends, holidays, and special events.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 Analytics collects and processes large amounts of transportation data from GPS, ticketing systems, and passenger records.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analyzes past travel patterns and predicts future passenger demand.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demand forecasting helps transport authorities plan better routes and schedules.</a:t>
            </a:r>
          </a:p>
        </p:txBody>
      </p:sp>
    </p:spTree>
    <p:extLst>
      <p:ext uri="{BB962C8B-B14F-4D97-AF65-F5344CB8AC3E}">
        <p14:creationId xmlns:p14="http://schemas.microsoft.com/office/powerpoint/2010/main" val="3819969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59E1E-BD22-1B88-E948-965A95EB0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F8FD92-21EB-6736-6C4C-1F1C6228A8DE}"/>
              </a:ext>
            </a:extLst>
          </p:cNvPr>
          <p:cNvSpPr txBox="1"/>
          <p:nvPr/>
        </p:nvSpPr>
        <p:spPr>
          <a:xfrm>
            <a:off x="4163386" y="472541"/>
            <a:ext cx="4439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7F0DB0-602B-1469-8BE9-F7F5BA6F0B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3418" y="22485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247A95F-EC4B-07E2-F83B-65773D6CB1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324" y="22485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5ABFEB7C-626C-53FE-9E50-262191F5B3D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101213" y="1707551"/>
            <a:ext cx="9989573" cy="47811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transportation systems generate large amounts of data from passengers, GPS, ticketing systems, and vehicles.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data is often stored separately and is difficult to analyze effectively.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transportation planning methods may not accurately predict future passenger demand.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demand prediction can lead to overcrowded buses, unused vehicles, and long waiting times.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 route planning can increase travel time, fuel consumption, and operational costs.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 authorities need real-time information to make quick and accurate decisions.</a:t>
            </a:r>
          </a:p>
          <a:p>
            <a:pPr marL="342900" lvl="0" indent="-34290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5053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399FCA-99A8-EFEC-DF7F-83C222C7B95C}"/>
              </a:ext>
            </a:extLst>
          </p:cNvPr>
          <p:cNvSpPr txBox="1"/>
          <p:nvPr/>
        </p:nvSpPr>
        <p:spPr>
          <a:xfrm>
            <a:off x="4222185" y="472541"/>
            <a:ext cx="4439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0C18FE-C7CA-3EC2-FC80-7419047646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3418" y="22485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953CEE5-79EC-71EA-1384-E39B1D3538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324" y="22485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1DA97EB1-C6D7-51FC-CB54-0E80943F550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78314" y="1670837"/>
            <a:ext cx="6687744" cy="47811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collect and analyze public transportation data from different sources.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predict passenger demand using Machine Learning techniques.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peak and off-peak travel hours.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optimize bus routes and transportation schedules.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the utilization of buses and other transport resources.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passenger waiting time and traffic congestion.</a:t>
            </a:r>
          </a:p>
          <a:p>
            <a:pPr marL="342900" lvl="0" indent="-34290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10 best factors to consider to choose a WordPress theme">
            <a:extLst>
              <a:ext uri="{FF2B5EF4-FFF2-40B4-BE49-F238E27FC236}">
                <a16:creationId xmlns:a16="http://schemas.microsoft.com/office/drawing/2014/main" id="{80F31456-404D-B2B5-9FE1-28497F4E82F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51" r="-323" b="303"/>
          <a:stretch>
            <a:fillRect/>
          </a:stretch>
        </p:blipFill>
        <p:spPr>
          <a:xfrm>
            <a:off x="8309488" y="1670837"/>
            <a:ext cx="3490324" cy="3658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612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4EFDF-8A00-B06E-A676-64C09CB6E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013" y="112072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64D67B9-C8DF-BB05-2AF7-DFBD700B1DED}"/>
              </a:ext>
            </a:extLst>
          </p:cNvPr>
          <p:cNvGraphicFramePr>
            <a:graphicFrameLocks noGrp="1"/>
          </p:cNvGraphicFramePr>
          <p:nvPr/>
        </p:nvGraphicFramePr>
        <p:xfrm>
          <a:off x="834013" y="1065125"/>
          <a:ext cx="10520622" cy="5295482"/>
        </p:xfrm>
        <a:graphic>
          <a:graphicData uri="http://schemas.openxmlformats.org/drawingml/2006/table">
            <a:tbl>
              <a:tblPr/>
              <a:tblGrid>
                <a:gridCol w="1753437">
                  <a:extLst>
                    <a:ext uri="{9D8B030D-6E8A-4147-A177-3AD203B41FA5}">
                      <a16:colId xmlns:a16="http://schemas.microsoft.com/office/drawing/2014/main" val="4183702477"/>
                    </a:ext>
                  </a:extLst>
                </a:gridCol>
                <a:gridCol w="1753437">
                  <a:extLst>
                    <a:ext uri="{9D8B030D-6E8A-4147-A177-3AD203B41FA5}">
                      <a16:colId xmlns:a16="http://schemas.microsoft.com/office/drawing/2014/main" val="928464764"/>
                    </a:ext>
                  </a:extLst>
                </a:gridCol>
                <a:gridCol w="1753437">
                  <a:extLst>
                    <a:ext uri="{9D8B030D-6E8A-4147-A177-3AD203B41FA5}">
                      <a16:colId xmlns:a16="http://schemas.microsoft.com/office/drawing/2014/main" val="2810094202"/>
                    </a:ext>
                  </a:extLst>
                </a:gridCol>
                <a:gridCol w="1753437">
                  <a:extLst>
                    <a:ext uri="{9D8B030D-6E8A-4147-A177-3AD203B41FA5}">
                      <a16:colId xmlns:a16="http://schemas.microsoft.com/office/drawing/2014/main" val="2594892924"/>
                    </a:ext>
                  </a:extLst>
                </a:gridCol>
                <a:gridCol w="1753437">
                  <a:extLst>
                    <a:ext uri="{9D8B030D-6E8A-4147-A177-3AD203B41FA5}">
                      <a16:colId xmlns:a16="http://schemas.microsoft.com/office/drawing/2014/main" val="3609719850"/>
                    </a:ext>
                  </a:extLst>
                </a:gridCol>
                <a:gridCol w="1753437">
                  <a:extLst>
                    <a:ext uri="{9D8B030D-6E8A-4147-A177-3AD203B41FA5}">
                      <a16:colId xmlns:a16="http://schemas.microsoft.com/office/drawing/2014/main" val="3001523323"/>
                    </a:ext>
                  </a:extLst>
                </a:gridCol>
              </a:tblGrid>
              <a:tr h="28082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288" marR="34288" marT="17144" marB="17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288" marR="34288" marT="17144" marB="17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288" marR="34288" marT="17144" marB="17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288" marR="34288" marT="17144" marB="17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288" marR="34288" marT="17144" marB="17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288" marR="34288" marT="17144" marB="17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5026088"/>
                  </a:ext>
                </a:extLst>
              </a:tr>
              <a:tr h="112328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288" marR="34288" marT="17144" marB="17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288" marR="34288" marT="17144" marB="17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288" marR="34288" marT="17144" marB="17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288" marR="34288" marT="17144" marB="17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288" marR="34288" marT="17144" marB="17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288" marR="34288" marT="17144" marB="17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2657332"/>
                  </a:ext>
                </a:extLst>
              </a:tr>
              <a:tr h="88258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288" marR="34288" marT="17144" marB="17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288" marR="34288" marT="17144" marB="17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288" marR="34288" marT="17144" marB="17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288" marR="34288" marT="17144" marB="17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288" marR="34288" marT="17144" marB="17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288" marR="34288" marT="17144" marB="17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5004348"/>
                  </a:ext>
                </a:extLst>
              </a:tr>
              <a:tr h="76222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288" marR="34288" marT="17144" marB="17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288" marR="34288" marT="17144" marB="17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288" marR="34288" marT="17144" marB="17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288" marR="34288" marT="17144" marB="17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288" marR="34288" marT="17144" marB="17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288" marR="34288" marT="17144" marB="17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1364659"/>
                  </a:ext>
                </a:extLst>
              </a:tr>
              <a:tr h="100293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288" marR="34288" marT="17144" marB="17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288" marR="34288" marT="17144" marB="17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288" marR="34288" marT="17144" marB="17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288" marR="34288" marT="17144" marB="17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288" marR="34288" marT="17144" marB="17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288" marR="34288" marT="17144" marB="17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6257906"/>
                  </a:ext>
                </a:extLst>
              </a:tr>
              <a:tr h="124363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288" marR="34288" marT="17144" marB="17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288" marR="34288" marT="17144" marB="17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288" marR="34288" marT="17144" marB="17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288" marR="34288" marT="17144" marB="17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288" marR="34288" marT="17144" marB="17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288" marR="34288" marT="17144" marB="171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900175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88B0541-7314-18C7-1C34-C2CDCCE210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6146374"/>
              </p:ext>
            </p:extLst>
          </p:nvPr>
        </p:nvGraphicFramePr>
        <p:xfrm>
          <a:off x="737419" y="1459772"/>
          <a:ext cx="10528725" cy="5340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3857">
                  <a:extLst>
                    <a:ext uri="{9D8B030D-6E8A-4147-A177-3AD203B41FA5}">
                      <a16:colId xmlns:a16="http://schemas.microsoft.com/office/drawing/2014/main" val="4107426069"/>
                    </a:ext>
                  </a:extLst>
                </a:gridCol>
                <a:gridCol w="2029767">
                  <a:extLst>
                    <a:ext uri="{9D8B030D-6E8A-4147-A177-3AD203B41FA5}">
                      <a16:colId xmlns:a16="http://schemas.microsoft.com/office/drawing/2014/main" val="1373741234"/>
                    </a:ext>
                  </a:extLst>
                </a:gridCol>
                <a:gridCol w="1728317">
                  <a:extLst>
                    <a:ext uri="{9D8B030D-6E8A-4147-A177-3AD203B41FA5}">
                      <a16:colId xmlns:a16="http://schemas.microsoft.com/office/drawing/2014/main" val="2318382286"/>
                    </a:ext>
                  </a:extLst>
                </a:gridCol>
                <a:gridCol w="1818751">
                  <a:extLst>
                    <a:ext uri="{9D8B030D-6E8A-4147-A177-3AD203B41FA5}">
                      <a16:colId xmlns:a16="http://schemas.microsoft.com/office/drawing/2014/main" val="2168144349"/>
                    </a:ext>
                  </a:extLst>
                </a:gridCol>
                <a:gridCol w="1778558">
                  <a:extLst>
                    <a:ext uri="{9D8B030D-6E8A-4147-A177-3AD203B41FA5}">
                      <a16:colId xmlns:a16="http://schemas.microsoft.com/office/drawing/2014/main" val="2108384015"/>
                    </a:ext>
                  </a:extLst>
                </a:gridCol>
                <a:gridCol w="1969475">
                  <a:extLst>
                    <a:ext uri="{9D8B030D-6E8A-4147-A177-3AD203B41FA5}">
                      <a16:colId xmlns:a16="http://schemas.microsoft.com/office/drawing/2014/main" val="1268776824"/>
                    </a:ext>
                  </a:extLst>
                </a:gridCol>
              </a:tblGrid>
              <a:tr h="58234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Paper</a:t>
                      </a:r>
                      <a:endParaRPr lang="en-IN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  <a:endParaRPr lang="en-IN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  <a:endParaRPr lang="en-IN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</a:t>
                      </a:r>
                      <a:endParaRPr lang="en-IN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Technologies Used</a:t>
                      </a:r>
                      <a:endParaRPr lang="en-IN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3173551"/>
                  </a:ext>
                </a:extLst>
              </a:tr>
              <a:tr h="11725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 for Public Transport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Alexandre et al., 2023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demand prediction.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Transportation Research Record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45082859"/>
                  </a:ext>
                </a:extLst>
              </a:tr>
              <a:tr h="11725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 Transport Demand Prediction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Zhong et al., 2023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Predicts passenger demand.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Communications in Transportation Research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PCA, Data Analytics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23538545"/>
                  </a:ext>
                </a:extLst>
              </a:tr>
              <a:tr h="11776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Urban Transport Travel-Time Prediction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Zhang et al., 2022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travel planning.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PLOS 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GPS, Data Analytics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21761316"/>
                  </a:ext>
                </a:extLst>
              </a:tr>
              <a:tr h="11776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 Card Demand Forecasting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Caroleo et al., 2023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demand forecasting.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Intelligent Transport Systems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 Cards, ML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27796806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A1239007-98F5-0B9C-DAD2-EEF57784B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398" y="21746"/>
            <a:ext cx="1133954" cy="13473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39184BF-7219-A0A1-8840-AE7399BAA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5617" y="83069"/>
            <a:ext cx="1518036" cy="134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709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CDA7B-34A4-E667-6196-FF694360D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51A3B1E-6C74-E961-F912-EB041091E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3374" y="256999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274D144-FECE-01FE-390F-F92DE08EC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703" y="235229"/>
            <a:ext cx="1133954" cy="13473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05DCF4B-909F-3BB9-F649-28D9151D5D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3964" y="95845"/>
            <a:ext cx="1518036" cy="13473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10634A9-DC2B-D96E-8B29-31D967C4F7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439" y="1482075"/>
            <a:ext cx="11071122" cy="5338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568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9BB31-1CB1-AA41-5715-670D738B1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27D40-0B93-D7A0-DD57-83BC7AA392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8600"/>
            <a:ext cx="9144000" cy="914401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1:Data Collection</a:t>
            </a:r>
          </a:p>
        </p:txBody>
      </p:sp>
      <p:pic>
        <p:nvPicPr>
          <p:cNvPr id="2049" name="Picture 2">
            <a:extLst>
              <a:ext uri="{FF2B5EF4-FFF2-40B4-BE49-F238E27FC236}">
                <a16:creationId xmlns:a16="http://schemas.microsoft.com/office/drawing/2014/main" id="{897D6857-0C23-6C8A-C81A-B7C657F178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3418" y="22485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3">
            <a:extLst>
              <a:ext uri="{FF2B5EF4-FFF2-40B4-BE49-F238E27FC236}">
                <a16:creationId xmlns:a16="http://schemas.microsoft.com/office/drawing/2014/main" id="{78833372-7BE3-4005-9BDA-09ED1D933D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324" y="22485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A56698A-3287-B5A6-C7A0-851D48C704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5C2214D6-99C0-3BB7-9110-6BC062C06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7508" y="1845195"/>
            <a:ext cx="7113679" cy="4376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transportation data from different sources.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Gather GPS, ticketing, and passenger travel data.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real-time and historical transportation data.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and preprocess the collected data.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duplicate and missing values.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GPS Data, Ticketing Data, Passenger Records.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Clean and organized dataset ready for analysis.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2813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0AAAE-0513-8615-3C50-D2DD2B49E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588ED-9571-E91E-7924-44DAA0AA20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8866" y="374324"/>
            <a:ext cx="9144000" cy="562561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2049" name="Picture 2">
            <a:extLst>
              <a:ext uri="{FF2B5EF4-FFF2-40B4-BE49-F238E27FC236}">
                <a16:creationId xmlns:a16="http://schemas.microsoft.com/office/drawing/2014/main" id="{8DFFAC93-E2B0-4534-D183-50E95F26A3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3418" y="22485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3">
            <a:extLst>
              <a:ext uri="{FF2B5EF4-FFF2-40B4-BE49-F238E27FC236}">
                <a16:creationId xmlns:a16="http://schemas.microsoft.com/office/drawing/2014/main" id="{68650881-35C3-9EC0-2287-3CE9E3CF5B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324" y="22485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4A25B10-43E4-3DFD-0469-A841DEBDA9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84A157-9677-CC03-3AC0-246D45FAB6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877" y="993006"/>
            <a:ext cx="11257935" cy="5864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82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14EED-1C3E-5180-8AD0-0488BBC3B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532AA-1C57-3C82-9C3A-A68CFFEBC6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8866" y="374324"/>
            <a:ext cx="9144000" cy="562561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2: Demand Prediction</a:t>
            </a:r>
          </a:p>
        </p:txBody>
      </p:sp>
      <p:pic>
        <p:nvPicPr>
          <p:cNvPr id="2049" name="Picture 2">
            <a:extLst>
              <a:ext uri="{FF2B5EF4-FFF2-40B4-BE49-F238E27FC236}">
                <a16:creationId xmlns:a16="http://schemas.microsoft.com/office/drawing/2014/main" id="{F0E4EC11-95DA-7AB6-D8BF-556CA384FD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3418" y="22485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3">
            <a:extLst>
              <a:ext uri="{FF2B5EF4-FFF2-40B4-BE49-F238E27FC236}">
                <a16:creationId xmlns:a16="http://schemas.microsoft.com/office/drawing/2014/main" id="{619BEB3F-1FC4-B81A-83BB-91E201B86B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324" y="22485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B7F63AC-F5F1-2284-C10D-16A0846729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D7B5F55D-A3F3-5E6B-7069-ABF671833C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9137" y="1623061"/>
            <a:ext cx="10720255" cy="4492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historical passenger travel data.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daily, weekly, and monthly travel records.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passenger travel patterns and trends.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peak hours and off-peak hours.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Machine Learning algorithms for prediction.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Historical Passenger Data, Travel Records, Ticketing Data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Passenger Demand Forecast Report</a:t>
            </a:r>
          </a:p>
          <a:p>
            <a:pPr marL="342900" lvl="0" indent="-34290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7538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285F5-8B31-F214-0208-F08B00273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76297-5577-3C04-870D-BBF3EB6C33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8866" y="374324"/>
            <a:ext cx="9144000" cy="562561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2049" name="Picture 2">
            <a:extLst>
              <a:ext uri="{FF2B5EF4-FFF2-40B4-BE49-F238E27FC236}">
                <a16:creationId xmlns:a16="http://schemas.microsoft.com/office/drawing/2014/main" id="{52AE00DA-687B-84EB-81A5-B12B5A0878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3418" y="22485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3">
            <a:extLst>
              <a:ext uri="{FF2B5EF4-FFF2-40B4-BE49-F238E27FC236}">
                <a16:creationId xmlns:a16="http://schemas.microsoft.com/office/drawing/2014/main" id="{45B67963-046A-5251-6092-391750091D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324" y="22485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8527F1B-8D1D-3D4C-0A0D-4342F32465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ABAD85-816B-CF67-714D-A141EE5446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324" y="1084953"/>
            <a:ext cx="12192000" cy="5773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340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A801C-36DA-CC3A-32B1-BE6B1BC2B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7DFFD-D876-4A6F-06D9-11A1627FF1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8866" y="374324"/>
            <a:ext cx="9144000" cy="562561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3: Route Analytics</a:t>
            </a:r>
          </a:p>
        </p:txBody>
      </p:sp>
      <p:pic>
        <p:nvPicPr>
          <p:cNvPr id="2049" name="Picture 2">
            <a:extLst>
              <a:ext uri="{FF2B5EF4-FFF2-40B4-BE49-F238E27FC236}">
                <a16:creationId xmlns:a16="http://schemas.microsoft.com/office/drawing/2014/main" id="{1058CCD4-67FD-AC89-899B-F39F108908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3418" y="22485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3">
            <a:extLst>
              <a:ext uri="{FF2B5EF4-FFF2-40B4-BE49-F238E27FC236}">
                <a16:creationId xmlns:a16="http://schemas.microsoft.com/office/drawing/2014/main" id="{B1850F08-2F14-5857-7585-D2F8816EC2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324" y="22485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17589F1-B49B-C3DA-4855-CB4524DDE5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8827A74A-BE0E-7C57-644C-EAF29100D4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9137" y="1363119"/>
            <a:ext cx="10720255" cy="5011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bus routes and transportation networks.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traffic conditions using GPS data.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route efficiency and travel time.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high-traffic and congestion areas.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different routes for better performance.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 the shortest and fastest routes.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GPS Data, Route Information, Traffic Data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Optimized Routes and Route Performance Report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52766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3A2F2-5217-E0C4-766A-F750B4705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64AB6-477A-2B65-FADF-146C6755E2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8866" y="374324"/>
            <a:ext cx="9144000" cy="562561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2049" name="Picture 2">
            <a:extLst>
              <a:ext uri="{FF2B5EF4-FFF2-40B4-BE49-F238E27FC236}">
                <a16:creationId xmlns:a16="http://schemas.microsoft.com/office/drawing/2014/main" id="{E1DEF4E9-3814-3D9D-8005-93FE604ABB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3418" y="22485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3">
            <a:extLst>
              <a:ext uri="{FF2B5EF4-FFF2-40B4-BE49-F238E27FC236}">
                <a16:creationId xmlns:a16="http://schemas.microsoft.com/office/drawing/2014/main" id="{A0B29541-4EFB-F1DC-2DF0-53B47EED2B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324" y="22485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2F8A982-A4F9-F11C-AF99-37D4B5C5CF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E9AF42-A1F6-6329-2534-424EC2CAFA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5148"/>
            <a:ext cx="12156206" cy="5800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2538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E01AE-7805-B1F9-79A8-30BAE736E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8B421-8ACF-E722-D351-7E71C77A2F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8866" y="374324"/>
            <a:ext cx="9144000" cy="562561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4: Dashboard</a:t>
            </a:r>
          </a:p>
        </p:txBody>
      </p:sp>
      <p:pic>
        <p:nvPicPr>
          <p:cNvPr id="2049" name="Picture 2">
            <a:extLst>
              <a:ext uri="{FF2B5EF4-FFF2-40B4-BE49-F238E27FC236}">
                <a16:creationId xmlns:a16="http://schemas.microsoft.com/office/drawing/2014/main" id="{462A078C-BAEB-AD30-F32A-4AE100333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3418" y="22485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3">
            <a:extLst>
              <a:ext uri="{FF2B5EF4-FFF2-40B4-BE49-F238E27FC236}">
                <a16:creationId xmlns:a16="http://schemas.microsoft.com/office/drawing/2014/main" id="{A11D5F5E-FE2B-E9C2-341E-0459F1EBA1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324" y="22485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CABF7CA-B4DF-2224-1C24-F8D602B813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1BBC9990-92A1-4403-0BAE-DCBFFE2B0E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9137" y="1363119"/>
            <a:ext cx="10720255" cy="5011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transportation data in a user-friendly interface.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passenger demand prediction results.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 route analysis using charts and graphs.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transportation performance in real time.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reports for transport authorities.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key performance indicators (KPIs). </a:t>
            </a:r>
          </a:p>
          <a:p>
            <a:pPr lvl="0"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Prediction Results, Route Analytics Data, Transportation Reports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Interactive Dashboard, Reports, Charts, and Performance Analytics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173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A75EC-2858-A21F-5625-9220D7B7F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694F6-920B-96AC-2ADD-7FDE67D4B3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8866" y="374324"/>
            <a:ext cx="9144000" cy="562561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2049" name="Picture 2">
            <a:extLst>
              <a:ext uri="{FF2B5EF4-FFF2-40B4-BE49-F238E27FC236}">
                <a16:creationId xmlns:a16="http://schemas.microsoft.com/office/drawing/2014/main" id="{101C9F01-06BF-CAD1-F684-BAD68364E8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3418" y="22485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3">
            <a:extLst>
              <a:ext uri="{FF2B5EF4-FFF2-40B4-BE49-F238E27FC236}">
                <a16:creationId xmlns:a16="http://schemas.microsoft.com/office/drawing/2014/main" id="{CF505FB2-16C2-EFB8-1414-C4CC062BE4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324" y="22485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A3A95D5-FE60-9B03-7984-2C7A6877E3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43B620-6DC9-55DF-F490-987B8AE638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52052"/>
            <a:ext cx="12192000" cy="5805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9864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17401-998E-6538-7204-11F1811C7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125E8-E973-A4E0-41D2-DA3F9D5281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8866" y="374324"/>
            <a:ext cx="9144000" cy="562561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pic>
        <p:nvPicPr>
          <p:cNvPr id="2049" name="Picture 2">
            <a:extLst>
              <a:ext uri="{FF2B5EF4-FFF2-40B4-BE49-F238E27FC236}">
                <a16:creationId xmlns:a16="http://schemas.microsoft.com/office/drawing/2014/main" id="{301A5299-6553-B89F-9F71-68267CA58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3418" y="22485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3">
            <a:extLst>
              <a:ext uri="{FF2B5EF4-FFF2-40B4-BE49-F238E27FC236}">
                <a16:creationId xmlns:a16="http://schemas.microsoft.com/office/drawing/2014/main" id="{7ADA47D7-0230-C2E6-B6E2-F997FC20D0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324" y="22485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2FA9FEB-55E7-77B6-0DD2-299C37F41C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DCB56CDC-A1C1-3D97-2013-05E361050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738" y="1471727"/>
            <a:ext cx="10720255" cy="5011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platform can be used by government transport departments to analyze overall public transportation performance.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help transport authorities understand where, when, and how many passengers use public transportation.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predict daily, weekly, monthly, and seasonal passenger demand.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help identify peak travel periods such as morning and evening rush hours.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predicted demand, additional buses can be assigned to high-demand routes.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support automatic or data-based bus timetable planning.</a:t>
            </a:r>
          </a:p>
        </p:txBody>
      </p:sp>
    </p:spTree>
    <p:extLst>
      <p:ext uri="{BB962C8B-B14F-4D97-AF65-F5344CB8AC3E}">
        <p14:creationId xmlns:p14="http://schemas.microsoft.com/office/powerpoint/2010/main" val="23796272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E5F0F-00E7-9D24-37E2-F2B0E193D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D31B9E53-DE2F-3705-07ED-8868FA241F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3418" y="22485"/>
            <a:ext cx="712788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B0994DCA-D488-FC6B-23CD-8A8AD0B24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324" y="22485"/>
            <a:ext cx="909638" cy="90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7C42263-BFFB-72DF-2DCF-9C74E41422F7}"/>
              </a:ext>
            </a:extLst>
          </p:cNvPr>
          <p:cNvSpPr txBox="1"/>
          <p:nvPr/>
        </p:nvSpPr>
        <p:spPr>
          <a:xfrm>
            <a:off x="4777370" y="376483"/>
            <a:ext cx="26372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415A89-79EE-FEFC-C1A2-13258BCA5550}"/>
              </a:ext>
            </a:extLst>
          </p:cNvPr>
          <p:cNvSpPr txBox="1"/>
          <p:nvPr/>
        </p:nvSpPr>
        <p:spPr>
          <a:xfrm>
            <a:off x="961436" y="1292053"/>
            <a:ext cx="10099854" cy="5565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uses Big Data Analytics to improve public transportation planning.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collects and analyzes transportation data from different sources.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helps predict future passenger demand accurately.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 analytics identifies the best routes and reduces traffic congestion.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provides real-time reports and visual insights for decision-making.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supports smart city development through data-driven transportation management.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11618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6D33B-7C92-E1A5-3256-E23F77D88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99E0D458-AB23-0732-7E9C-FF512397FDC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DEA997CC-BDBE-2BE1-7A85-B75AEA839E6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6A2784A-BCE9-9F99-BF04-393DD4619D83}"/>
              </a:ext>
            </a:extLst>
          </p:cNvPr>
          <p:cNvSpPr txBox="1"/>
          <p:nvPr/>
        </p:nvSpPr>
        <p:spPr>
          <a:xfrm>
            <a:off x="4939846" y="462116"/>
            <a:ext cx="28052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C05841-9286-4A2D-A720-98A103C5AD96}"/>
              </a:ext>
            </a:extLst>
          </p:cNvPr>
          <p:cNvSpPr txBox="1"/>
          <p:nvPr/>
        </p:nvSpPr>
        <p:spPr>
          <a:xfrm>
            <a:off x="806246" y="1654408"/>
            <a:ext cx="10933472" cy="445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real-time GPS and IoT data for continuous transportation monitoring.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passenger demand prediction using advanced Deep Learning models.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weather, traffic, holidays, and special-event data for more accurate forecasting.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dynamic route optimization based on real-time traffic and passenger demand.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real-time bus scheduling based on predicted passenger volume.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a mobile application for passengers to view routes, timings, and bus locations.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personalized travel recommendations based on passenger requirements.</a:t>
            </a:r>
          </a:p>
        </p:txBody>
      </p:sp>
    </p:spTree>
    <p:extLst>
      <p:ext uri="{BB962C8B-B14F-4D97-AF65-F5344CB8AC3E}">
        <p14:creationId xmlns:p14="http://schemas.microsoft.com/office/powerpoint/2010/main" val="6890917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687ED-1CD0-EA1D-21C8-5F1257897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C2E9A1FD-D984-BCB1-5450-9E500E7CF6F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E299B45B-E8BC-CCAE-EB2D-AF331C4C1DC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2195530-977B-2C21-C464-FCB2B49BB27C}"/>
              </a:ext>
            </a:extLst>
          </p:cNvPr>
          <p:cNvSpPr txBox="1"/>
          <p:nvPr/>
        </p:nvSpPr>
        <p:spPr>
          <a:xfrm>
            <a:off x="4939846" y="462116"/>
            <a:ext cx="24461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E6F2DA-9F7A-908D-F240-91ABB47D9CA1}"/>
              </a:ext>
            </a:extLst>
          </p:cNvPr>
          <p:cNvSpPr txBox="1"/>
          <p:nvPr/>
        </p:nvSpPr>
        <p:spPr>
          <a:xfrm>
            <a:off x="806246" y="1654408"/>
            <a:ext cx="1093347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Wan, L. (2024). Optimizing metro passenger flow prediction: Integrating machine learning and time-series analysis with multimodal data fusion.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IET Circuits, Devices &amp; Systems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Zhang, X., Lauber, L., Liu, H., Shi, J., Xie, M., &amp; Pan, Y. (2022). Travel time prediction of urban public transportation based on detection of single routes.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PLOS ONE, 17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Ma, Y. (2022). Optimization algorithm of urban rail transit network route planning using deep learning technology.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 Intelligence and Neuroscience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Tiwari, S., et al. (2022). A data-driven system for cooperative-bus route planning based on generative adversarial network and metric learning.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Annals of Operations Research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Shi, et al. (2023). Online prediction of network-level public transport demand based on principal component analysis.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Communications in Transportation Research, 3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100093.</a:t>
            </a:r>
          </a:p>
        </p:txBody>
      </p:sp>
    </p:spTree>
    <p:extLst>
      <p:ext uri="{BB962C8B-B14F-4D97-AF65-F5344CB8AC3E}">
        <p14:creationId xmlns:p14="http://schemas.microsoft.com/office/powerpoint/2010/main" val="24514276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A90CF-1B38-5DB2-CE63-5B23B0BEB4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 descr="Thank You Digital Images – Browse 99,118 Stock Photos ...">
            <a:extLst>
              <a:ext uri="{FF2B5EF4-FFF2-40B4-BE49-F238E27FC236}">
                <a16:creationId xmlns:a16="http://schemas.microsoft.com/office/drawing/2014/main" id="{E21DC90C-EF37-7845-E1CB-4C69FB30A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569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1321</TotalTime>
  <Words>1156</Words>
  <Application>Microsoft Office PowerPoint</Application>
  <PresentationFormat>Widescreen</PresentationFormat>
  <Paragraphs>137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Times New Roman</vt:lpstr>
      <vt:lpstr>Wingdings</vt:lpstr>
      <vt:lpstr>Office Theme</vt:lpstr>
      <vt:lpstr>SIMATS ENGINEERING Saveetha Institute of Medical and Technical Sciences Chennai-602105.</vt:lpstr>
      <vt:lpstr>Abstract </vt:lpstr>
      <vt:lpstr>Introduction</vt:lpstr>
      <vt:lpstr>PowerPoint Presentation</vt:lpstr>
      <vt:lpstr>PowerPoint Presentation</vt:lpstr>
      <vt:lpstr>LITERATURE REVIEW</vt:lpstr>
      <vt:lpstr>ARCHITECTURE DIAGRAM</vt:lpstr>
      <vt:lpstr>Module 1:Data Collection</vt:lpstr>
      <vt:lpstr>Implementation</vt:lpstr>
      <vt:lpstr>Module 2: Demand Prediction</vt:lpstr>
      <vt:lpstr>Implementation</vt:lpstr>
      <vt:lpstr>Module 3: Route Analytics</vt:lpstr>
      <vt:lpstr>Implementation</vt:lpstr>
      <vt:lpstr>Module 4: Dashboard</vt:lpstr>
      <vt:lpstr>Implementation</vt:lpstr>
      <vt:lpstr>Applications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kumar Thevasigamani</dc:creator>
  <cp:lastModifiedBy>akula reddy prasad</cp:lastModifiedBy>
  <cp:revision>25</cp:revision>
  <dcterms:created xsi:type="dcterms:W3CDTF">2025-03-19T06:12:05Z</dcterms:created>
  <dcterms:modified xsi:type="dcterms:W3CDTF">2026-08-22T13:22:44Z</dcterms:modified>
</cp:coreProperties>
</file>